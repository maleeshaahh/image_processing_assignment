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rata" charset="1" panose="00000500000000000000"/>
      <p:regular r:id="rId20"/>
    </p:embeddedFont>
    <p:embeddedFont>
      <p:font typeface="Raleway Bold" charset="1" panose="00000000000000000000"/>
      <p:regular r:id="rId21"/>
    </p:embeddedFont>
    <p:embeddedFont>
      <p:font typeface="Raleway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Relationship Id="rId4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C1D">
                <a:alpha val="83922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77951" y="2569382"/>
            <a:ext cx="10674098" cy="3765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19"/>
              </a:lnSpc>
            </a:pPr>
            <a:r>
              <a:rPr lang="en-US" sz="791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Football </a:t>
            </a:r>
          </a:p>
          <a:p>
            <a:pPr algn="ctr">
              <a:lnSpc>
                <a:spcPts val="9924"/>
              </a:lnSpc>
            </a:pPr>
            <a:r>
              <a:rPr lang="en-US" sz="791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Player Tracking System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238" y="8059823"/>
            <a:ext cx="9445523" cy="1198477"/>
            <a:chOff x="0" y="0"/>
            <a:chExt cx="12594031" cy="1597969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12594031" cy="6499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95"/>
                </a:lnSpc>
              </a:pPr>
              <a:r>
                <a:rPr lang="en-US" b="true" sz="2699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Image Processing Assignment 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421621"/>
              <a:ext cx="12594031" cy="6499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95"/>
                </a:lnSpc>
              </a:pPr>
              <a:r>
                <a:rPr lang="en-US" b="true" sz="2699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N.H.M.S. De Silva 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948017"/>
              <a:ext cx="12594031" cy="6499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95"/>
                </a:lnSpc>
              </a:pPr>
              <a:r>
                <a:rPr lang="en-US" b="true" sz="2699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Index: ASP/2023/112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C1D">
                <a:alpha val="83922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82000"/>
              </a:blip>
              <a:stretch>
                <a:fillRect l="-25000" t="0" r="-2500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2890212"/>
            <a:ext cx="5670652" cy="73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40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Introduction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13777" y="4251086"/>
            <a:ext cx="9445523" cy="4166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76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Detect and track a single football player in a video</a:t>
            </a:r>
          </a:p>
          <a:p>
            <a:pPr algn="l" marL="647697" indent="-323848" lvl="1">
              <a:lnSpc>
                <a:spcPts val="476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Convert video into multiple frames (images)</a:t>
            </a:r>
          </a:p>
          <a:p>
            <a:pPr algn="l" marL="647697" indent="-323848" lvl="1">
              <a:lnSpc>
                <a:spcPts val="476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Segment the player from the background</a:t>
            </a:r>
          </a:p>
          <a:p>
            <a:pPr algn="l" marL="647697" indent="-323848" lvl="1">
              <a:lnSpc>
                <a:spcPts val="476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Use a tracking algorithm to follow the player</a:t>
            </a:r>
          </a:p>
          <a:p>
            <a:pPr algn="l" marL="647697" indent="-323848" lvl="1">
              <a:lnSpc>
                <a:spcPts val="476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Implemented using Python and OpenCV</a:t>
            </a:r>
          </a:p>
          <a:p>
            <a:pPr algn="l">
              <a:lnSpc>
                <a:spcPts val="4772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C1D">
                <a:alpha val="83922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788326" y="783879"/>
            <a:ext cx="5316141" cy="702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sz="410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Objectives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788326" y="1993778"/>
            <a:ext cx="9569348" cy="1508369"/>
            <a:chOff x="0" y="0"/>
            <a:chExt cx="12759131" cy="201115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759309" cy="2011172"/>
            </a:xfrm>
            <a:custGeom>
              <a:avLst/>
              <a:gdLst/>
              <a:ahLst/>
              <a:cxnLst/>
              <a:rect r="r" b="b" t="t" l="l"/>
              <a:pathLst>
                <a:path h="2011172" w="12759309">
                  <a:moveTo>
                    <a:pt x="0" y="53213"/>
                  </a:moveTo>
                  <a:cubicBezTo>
                    <a:pt x="0" y="23749"/>
                    <a:pt x="23749" y="0"/>
                    <a:pt x="53213" y="0"/>
                  </a:cubicBezTo>
                  <a:lnTo>
                    <a:pt x="12706096" y="0"/>
                  </a:lnTo>
                  <a:cubicBezTo>
                    <a:pt x="12735433" y="0"/>
                    <a:pt x="12759309" y="23749"/>
                    <a:pt x="12759309" y="53213"/>
                  </a:cubicBezTo>
                  <a:lnTo>
                    <a:pt x="12759309" y="1957959"/>
                  </a:lnTo>
                  <a:cubicBezTo>
                    <a:pt x="12759309" y="1987296"/>
                    <a:pt x="12735560" y="2011172"/>
                    <a:pt x="12706096" y="2011172"/>
                  </a:cubicBezTo>
                  <a:lnTo>
                    <a:pt x="53213" y="2011172"/>
                  </a:lnTo>
                  <a:cubicBezTo>
                    <a:pt x="23876" y="2011172"/>
                    <a:pt x="0" y="1987423"/>
                    <a:pt x="0" y="1957959"/>
                  </a:cubicBezTo>
                  <a:close/>
                </a:path>
              </a:pathLst>
            </a:custGeom>
            <a:solidFill>
              <a:srgbClr val="3A3B3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788326" y="3760701"/>
            <a:ext cx="9569348" cy="1920326"/>
            <a:chOff x="0" y="0"/>
            <a:chExt cx="12759131" cy="25604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759309" cy="2560447"/>
            </a:xfrm>
            <a:custGeom>
              <a:avLst/>
              <a:gdLst/>
              <a:ahLst/>
              <a:cxnLst/>
              <a:rect r="r" b="b" t="t" l="l"/>
              <a:pathLst>
                <a:path h="2560447" w="12759309">
                  <a:moveTo>
                    <a:pt x="0" y="53213"/>
                  </a:moveTo>
                  <a:cubicBezTo>
                    <a:pt x="0" y="23749"/>
                    <a:pt x="23749" y="0"/>
                    <a:pt x="53213" y="0"/>
                  </a:cubicBezTo>
                  <a:lnTo>
                    <a:pt x="12706096" y="0"/>
                  </a:lnTo>
                  <a:cubicBezTo>
                    <a:pt x="12735433" y="0"/>
                    <a:pt x="12759309" y="23749"/>
                    <a:pt x="12759309" y="53213"/>
                  </a:cubicBezTo>
                  <a:lnTo>
                    <a:pt x="12759309" y="2507234"/>
                  </a:lnTo>
                  <a:cubicBezTo>
                    <a:pt x="12759309" y="2536571"/>
                    <a:pt x="12735560" y="2560447"/>
                    <a:pt x="12706096" y="2560447"/>
                  </a:cubicBezTo>
                  <a:lnTo>
                    <a:pt x="53213" y="2560447"/>
                  </a:lnTo>
                  <a:cubicBezTo>
                    <a:pt x="23876" y="2560447"/>
                    <a:pt x="0" y="2536698"/>
                    <a:pt x="0" y="2507234"/>
                  </a:cubicBezTo>
                  <a:close/>
                </a:path>
              </a:pathLst>
            </a:custGeom>
            <a:solidFill>
              <a:srgbClr val="3A3B3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788326" y="5858676"/>
            <a:ext cx="9569348" cy="1920326"/>
            <a:chOff x="0" y="0"/>
            <a:chExt cx="12759131" cy="256043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759309" cy="2560447"/>
            </a:xfrm>
            <a:custGeom>
              <a:avLst/>
              <a:gdLst/>
              <a:ahLst/>
              <a:cxnLst/>
              <a:rect r="r" b="b" t="t" l="l"/>
              <a:pathLst>
                <a:path h="2560447" w="12759309">
                  <a:moveTo>
                    <a:pt x="0" y="53213"/>
                  </a:moveTo>
                  <a:cubicBezTo>
                    <a:pt x="0" y="23749"/>
                    <a:pt x="23749" y="0"/>
                    <a:pt x="53213" y="0"/>
                  </a:cubicBezTo>
                  <a:lnTo>
                    <a:pt x="12706096" y="0"/>
                  </a:lnTo>
                  <a:cubicBezTo>
                    <a:pt x="12735433" y="0"/>
                    <a:pt x="12759309" y="23749"/>
                    <a:pt x="12759309" y="53213"/>
                  </a:cubicBezTo>
                  <a:lnTo>
                    <a:pt x="12759309" y="2507234"/>
                  </a:lnTo>
                  <a:cubicBezTo>
                    <a:pt x="12759309" y="2536571"/>
                    <a:pt x="12735560" y="2560447"/>
                    <a:pt x="12706096" y="2560447"/>
                  </a:cubicBezTo>
                  <a:lnTo>
                    <a:pt x="53213" y="2560447"/>
                  </a:lnTo>
                  <a:cubicBezTo>
                    <a:pt x="23876" y="2560447"/>
                    <a:pt x="0" y="2536698"/>
                    <a:pt x="0" y="2507234"/>
                  </a:cubicBezTo>
                  <a:close/>
                </a:path>
              </a:pathLst>
            </a:custGeom>
            <a:solidFill>
              <a:srgbClr val="3A3B3C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788326" y="8013802"/>
            <a:ext cx="9569348" cy="1508369"/>
            <a:chOff x="0" y="0"/>
            <a:chExt cx="12759131" cy="201115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759309" cy="2011172"/>
            </a:xfrm>
            <a:custGeom>
              <a:avLst/>
              <a:gdLst/>
              <a:ahLst/>
              <a:cxnLst/>
              <a:rect r="r" b="b" t="t" l="l"/>
              <a:pathLst>
                <a:path h="2011172" w="12759309">
                  <a:moveTo>
                    <a:pt x="0" y="53213"/>
                  </a:moveTo>
                  <a:cubicBezTo>
                    <a:pt x="0" y="23749"/>
                    <a:pt x="23749" y="0"/>
                    <a:pt x="53213" y="0"/>
                  </a:cubicBezTo>
                  <a:lnTo>
                    <a:pt x="12706096" y="0"/>
                  </a:lnTo>
                  <a:cubicBezTo>
                    <a:pt x="12735433" y="0"/>
                    <a:pt x="12759309" y="23749"/>
                    <a:pt x="12759309" y="53213"/>
                  </a:cubicBezTo>
                  <a:lnTo>
                    <a:pt x="12759309" y="1957959"/>
                  </a:lnTo>
                  <a:cubicBezTo>
                    <a:pt x="12759309" y="1987296"/>
                    <a:pt x="12735560" y="2011172"/>
                    <a:pt x="12706096" y="2011172"/>
                  </a:cubicBezTo>
                  <a:lnTo>
                    <a:pt x="53213" y="2011172"/>
                  </a:lnTo>
                  <a:cubicBezTo>
                    <a:pt x="23876" y="2011172"/>
                    <a:pt x="0" y="1987423"/>
                    <a:pt x="0" y="1957959"/>
                  </a:cubicBezTo>
                  <a:close/>
                </a:path>
              </a:pathLst>
            </a:custGeom>
            <a:solidFill>
              <a:srgbClr val="3A3B3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054130" y="2126009"/>
            <a:ext cx="6636959" cy="6521054"/>
            <a:chOff x="0" y="0"/>
            <a:chExt cx="8849278" cy="8694739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9525"/>
              <a:ext cx="8849278" cy="5664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46"/>
                </a:lnSpc>
              </a:pPr>
              <a:r>
                <a:rPr lang="en-US" sz="2799">
                  <a:solidFill>
                    <a:srgbClr val="FFFFFF"/>
                  </a:solidFill>
                  <a:latin typeface="Prata"/>
                  <a:ea typeface="Prata"/>
                  <a:cs typeface="Prata"/>
                  <a:sym typeface="Prata"/>
                </a:rPr>
                <a:t>Frame Extraction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2336905"/>
              <a:ext cx="8849278" cy="5664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46"/>
                </a:lnSpc>
              </a:pPr>
              <a:r>
                <a:rPr lang="en-US" sz="2799">
                  <a:solidFill>
                    <a:srgbClr val="FFFFFF"/>
                  </a:solidFill>
                  <a:latin typeface="Prata"/>
                  <a:ea typeface="Prata"/>
                  <a:cs typeface="Prata"/>
                  <a:sym typeface="Prata"/>
                </a:rPr>
                <a:t>Image Enhancement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5232598"/>
              <a:ext cx="8849278" cy="5664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46"/>
                </a:lnSpc>
              </a:pPr>
              <a:r>
                <a:rPr lang="en-US" sz="2799">
                  <a:solidFill>
                    <a:srgbClr val="FFFFFF"/>
                  </a:solidFill>
                  <a:latin typeface="Prata"/>
                  <a:ea typeface="Prata"/>
                  <a:cs typeface="Prata"/>
                  <a:sym typeface="Prata"/>
                </a:rPr>
                <a:t>Segmentation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8128303"/>
              <a:ext cx="8849278" cy="5664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46"/>
                </a:lnSpc>
              </a:pPr>
              <a:r>
                <a:rPr lang="en-US" sz="2799">
                  <a:solidFill>
                    <a:srgbClr val="FFFFFF"/>
                  </a:solidFill>
                  <a:latin typeface="Prata"/>
                  <a:ea typeface="Prata"/>
                  <a:cs typeface="Prata"/>
                  <a:sym typeface="Prata"/>
                </a:rPr>
                <a:t>Tracking &amp; Analysis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054130" y="2690812"/>
            <a:ext cx="9037739" cy="6656677"/>
            <a:chOff x="0" y="0"/>
            <a:chExt cx="12050319" cy="8875569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-95250"/>
              <a:ext cx="12050319" cy="11146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19"/>
                </a:lnSpc>
              </a:pPr>
              <a:r>
                <a:rPr lang="en-US" sz="2199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Extract individual frames from a short football clip for per frame analysis.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2718215"/>
              <a:ext cx="12050319" cy="11146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19"/>
                </a:lnSpc>
              </a:pPr>
              <a:r>
                <a:rPr lang="en-US" sz="2199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Improve visual quality (contrast, noise reduction) so detectors perform better.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5531667"/>
              <a:ext cx="12050319" cy="11146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19"/>
                </a:lnSpc>
              </a:pPr>
              <a:r>
                <a:rPr lang="en-US" sz="2199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Separate the target player from background using background subtraction and masks.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8345132"/>
              <a:ext cx="12050319" cy="5304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19"/>
                </a:lnSpc>
              </a:pPr>
              <a:r>
                <a:rPr lang="en-US" sz="2199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Track the selected one  player across frames.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C1D">
                <a:alpha val="83922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2844238"/>
            <a:ext cx="8115300" cy="4598524"/>
            <a:chOff x="0" y="0"/>
            <a:chExt cx="8141691" cy="46134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41716" cy="4613529"/>
            </a:xfrm>
            <a:custGeom>
              <a:avLst/>
              <a:gdLst/>
              <a:ahLst/>
              <a:cxnLst/>
              <a:rect r="r" b="b" t="t" l="l"/>
              <a:pathLst>
                <a:path h="4613529" w="8141716">
                  <a:moveTo>
                    <a:pt x="0" y="0"/>
                  </a:moveTo>
                  <a:lnTo>
                    <a:pt x="8141716" y="0"/>
                  </a:lnTo>
                  <a:lnTo>
                    <a:pt x="8141716" y="4613529"/>
                  </a:lnTo>
                  <a:lnTo>
                    <a:pt x="0" y="46135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505" r="0" b="-8505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566398" y="1877698"/>
            <a:ext cx="5780037" cy="73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40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Tools &amp; Technologies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74895" y="3603480"/>
            <a:ext cx="4971539" cy="2965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3896" indent="-361948" lvl="1">
              <a:lnSpc>
                <a:spcPts val="4772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Python </a:t>
            </a:r>
          </a:p>
          <a:p>
            <a:pPr algn="l" marL="723896" indent="-361948" lvl="1">
              <a:lnSpc>
                <a:spcPts val="4772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OpenCV (cv2) </a:t>
            </a:r>
          </a:p>
          <a:p>
            <a:pPr algn="l" marL="723896" indent="-361948" lvl="1">
              <a:lnSpc>
                <a:spcPts val="4772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NumPy </a:t>
            </a:r>
          </a:p>
          <a:p>
            <a:pPr algn="l" marL="723896" indent="-361948" lvl="1">
              <a:lnSpc>
                <a:spcPts val="4772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Jupyter Notebook </a:t>
            </a:r>
          </a:p>
          <a:p>
            <a:pPr algn="l" marL="723896" indent="-361948" lvl="1">
              <a:lnSpc>
                <a:spcPts val="4772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GitHub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C1D">
                <a:alpha val="83922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0902" t="0" r="-30902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2671338"/>
            <a:ext cx="7130948" cy="73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40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Video &amp; Frame Extraction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13777" y="4166808"/>
            <a:ext cx="9445523" cy="331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815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Short video (2–5 seconds) downloaded from YouTube</a:t>
            </a:r>
          </a:p>
          <a:p>
            <a:pPr algn="l" marL="518158" indent="-259079" lvl="1">
              <a:lnSpc>
                <a:spcPts val="3815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Video opened using cv2.VideoCapture()</a:t>
            </a:r>
          </a:p>
          <a:p>
            <a:pPr algn="l" marL="518158" indent="-259079" lvl="1">
              <a:lnSpc>
                <a:spcPts val="3815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Frames read one by one (sequentially)</a:t>
            </a:r>
          </a:p>
          <a:p>
            <a:pPr algn="l" marL="518158" indent="-259079" lvl="1">
              <a:lnSpc>
                <a:spcPts val="3815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Each frame saved as .jpg image</a:t>
            </a:r>
          </a:p>
          <a:p>
            <a:pPr algn="l" marL="518158" indent="-259079" lvl="1">
              <a:lnSpc>
                <a:spcPts val="3815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Frame sampling rate is selected carefully</a:t>
            </a:r>
          </a:p>
          <a:p>
            <a:pPr algn="l" marL="518158" indent="-259079" lvl="1">
              <a:lnSpc>
                <a:spcPts val="3815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Balances quality (details) and processing speed</a:t>
            </a:r>
          </a:p>
          <a:p>
            <a:pPr algn="l">
              <a:lnSpc>
                <a:spcPts val="3818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C1D">
                <a:alpha val="83922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2209505"/>
            <a:ext cx="10355161" cy="5867848"/>
            <a:chOff x="0" y="0"/>
            <a:chExt cx="13806881" cy="78237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806932" cy="7823835"/>
            </a:xfrm>
            <a:custGeom>
              <a:avLst/>
              <a:gdLst/>
              <a:ahLst/>
              <a:cxnLst/>
              <a:rect r="r" b="b" t="t" l="l"/>
              <a:pathLst>
                <a:path h="7823835" w="13806932">
                  <a:moveTo>
                    <a:pt x="0" y="0"/>
                  </a:moveTo>
                  <a:lnTo>
                    <a:pt x="13806932" y="0"/>
                  </a:lnTo>
                  <a:lnTo>
                    <a:pt x="13806932" y="7823835"/>
                  </a:lnTo>
                  <a:lnTo>
                    <a:pt x="0" y="7823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698" t="0" r="-11698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002843" y="1257342"/>
            <a:ext cx="5256457" cy="1446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40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Image Enhancement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642198" y="3193300"/>
            <a:ext cx="5662937" cy="3795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20" indent="-289560" lvl="1">
              <a:lnSpc>
                <a:spcPts val="3818"/>
              </a:lnSpc>
              <a:buAutoNum type="arabicPeriod" startAt="1"/>
            </a:pP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Convert to grayscale to simplify processing.</a:t>
            </a:r>
          </a:p>
          <a:p>
            <a:pPr algn="l" marL="579120" indent="-289560" lvl="1">
              <a:lnSpc>
                <a:spcPts val="3818"/>
              </a:lnSpc>
              <a:buAutoNum type="arabicPeriod" startAt="1"/>
            </a:pP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Apply Gaussian blur to reduce high-frequency noise.</a:t>
            </a:r>
          </a:p>
          <a:p>
            <a:pPr algn="l" marL="579120" indent="-289560" lvl="1">
              <a:lnSpc>
                <a:spcPts val="3818"/>
              </a:lnSpc>
              <a:buAutoNum type="arabicPeriod" startAt="1"/>
            </a:pP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Use CLAHE (adaptive histogram equalization) to boost local contrast.</a:t>
            </a:r>
          </a:p>
          <a:p>
            <a:pPr algn="l" marL="579120" indent="-289560" lvl="1">
              <a:lnSpc>
                <a:spcPts val="3818"/>
              </a:lnSpc>
              <a:buAutoNum type="arabicPeriod" startAt="1"/>
            </a:pP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Apply a sharpening kernel to restore edge clarity for detection.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6607" y="8758728"/>
            <a:ext cx="15137038" cy="49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6"/>
              </a:lnSpc>
            </a:pPr>
            <a:r>
              <a:rPr lang="en-US" sz="2599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Enhancement increases signal to noise ratio so segmentation and trackers can perform reliably.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C1D">
                <a:alpha val="83922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13777" y="2171056"/>
            <a:ext cx="5670652" cy="73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40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Segmentation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13777" y="3666526"/>
            <a:ext cx="9445523" cy="4272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816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</a:t>
            </a: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ompares current frame with background model</a:t>
            </a:r>
          </a:p>
          <a:p>
            <a:pPr algn="l" marL="518160" indent="-259080" lvl="1">
              <a:lnSpc>
                <a:spcPts val="3816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Detects moving objects (player)</a:t>
            </a:r>
          </a:p>
          <a:p>
            <a:pPr algn="l" marL="518160" indent="-259080" lvl="1">
              <a:lnSpc>
                <a:spcPts val="3816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Generates a binary mask (black &amp; white image)</a:t>
            </a:r>
          </a:p>
          <a:p>
            <a:pPr algn="l" marL="518160" indent="-259080" lvl="1">
              <a:lnSpc>
                <a:spcPts val="3816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White = player (foreground)</a:t>
            </a:r>
          </a:p>
          <a:p>
            <a:pPr algn="l" marL="518160" indent="-259080" lvl="1">
              <a:lnSpc>
                <a:spcPts val="3816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Black = background</a:t>
            </a:r>
          </a:p>
          <a:p>
            <a:pPr algn="l" marL="518160" indent="-259080" lvl="1">
              <a:lnSpc>
                <a:spcPts val="3816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Uses morphological operations to improve mask</a:t>
            </a:r>
          </a:p>
          <a:p>
            <a:pPr algn="l" marL="518160" indent="-259080" lvl="1">
              <a:lnSpc>
                <a:spcPts val="3816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Erosion removes small noise</a:t>
            </a:r>
          </a:p>
          <a:p>
            <a:pPr algn="l" marL="518160" indent="-259080" lvl="1">
              <a:lnSpc>
                <a:spcPts val="3816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Dilation fills gaps and improves object shape</a:t>
            </a:r>
          </a:p>
          <a:p>
            <a:pPr algn="l">
              <a:lnSpc>
                <a:spcPts val="3818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C1D">
                <a:alpha val="83922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09826" y="2992821"/>
            <a:ext cx="7620895" cy="4397388"/>
            <a:chOff x="0" y="0"/>
            <a:chExt cx="9274772" cy="53517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274810" cy="5351729"/>
            </a:xfrm>
            <a:custGeom>
              <a:avLst/>
              <a:gdLst/>
              <a:ahLst/>
              <a:cxnLst/>
              <a:rect r="r" b="b" t="t" l="l"/>
              <a:pathLst>
                <a:path h="5351729" w="9274810">
                  <a:moveTo>
                    <a:pt x="0" y="0"/>
                  </a:moveTo>
                  <a:lnTo>
                    <a:pt x="9274810" y="0"/>
                  </a:lnTo>
                  <a:lnTo>
                    <a:pt x="9274810" y="5351729"/>
                  </a:lnTo>
                  <a:lnTo>
                    <a:pt x="0" y="5351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94" r="0" b="-69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649595" y="2187921"/>
            <a:ext cx="5670652" cy="73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40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Player Tracking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49595" y="3717565"/>
            <a:ext cx="8655548" cy="284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20" indent="-289560" lvl="1">
              <a:lnSpc>
                <a:spcPts val="3818"/>
              </a:lnSpc>
              <a:buAutoNum type="arabicPeriod" startAt="1"/>
            </a:pP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Select target using a bounding box on one frame.</a:t>
            </a:r>
          </a:p>
          <a:p>
            <a:pPr algn="l" marL="579120" indent="-289560" lvl="1">
              <a:lnSpc>
                <a:spcPts val="3818"/>
              </a:lnSpc>
              <a:buAutoNum type="arabicPeriod" startAt="1"/>
            </a:pP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Initialize tracker</a:t>
            </a:r>
          </a:p>
          <a:p>
            <a:pPr algn="l" marL="579120" indent="-289560" lvl="1">
              <a:lnSpc>
                <a:spcPts val="3818"/>
              </a:lnSpc>
              <a:buAutoNum type="arabicPeriod" startAt="1"/>
            </a:pP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For each subsequent frame, update the tracker and redraw the bounding box.</a:t>
            </a:r>
          </a:p>
          <a:p>
            <a:pPr algn="l" marL="579120" indent="-289560" lvl="1">
              <a:lnSpc>
                <a:spcPts val="3818"/>
              </a:lnSpc>
              <a:buAutoNum type="arabicPeriod" startAt="1"/>
            </a:pP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Optional: combine mask-based detections to reinitialize tracker if it drifts.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15095" y="8276034"/>
            <a:ext cx="12657809" cy="49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6"/>
              </a:lnSpc>
            </a:pPr>
            <a:r>
              <a:rPr lang="en-US" sz="25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Simple visual feedback: green rectangle shows real-time tracking.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C1D">
                <a:alpha val="83922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1689945"/>
            <a:ext cx="5700122" cy="73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40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Results &amp; Challenges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73188" y="2833392"/>
            <a:ext cx="9483623" cy="2201618"/>
            <a:chOff x="0" y="0"/>
            <a:chExt cx="12644831" cy="29354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25400" y="25400"/>
              <a:ext cx="12594082" cy="2884678"/>
            </a:xfrm>
            <a:custGeom>
              <a:avLst/>
              <a:gdLst/>
              <a:ahLst/>
              <a:cxnLst/>
              <a:rect r="r" b="b" t="t" l="l"/>
              <a:pathLst>
                <a:path h="2884678" w="12594082">
                  <a:moveTo>
                    <a:pt x="0" y="56769"/>
                  </a:moveTo>
                  <a:cubicBezTo>
                    <a:pt x="0" y="25400"/>
                    <a:pt x="25781" y="0"/>
                    <a:pt x="57531" y="0"/>
                  </a:cubicBezTo>
                  <a:lnTo>
                    <a:pt x="12536551" y="0"/>
                  </a:lnTo>
                  <a:cubicBezTo>
                    <a:pt x="12568301" y="0"/>
                    <a:pt x="12594082" y="25400"/>
                    <a:pt x="12594082" y="56769"/>
                  </a:cubicBezTo>
                  <a:lnTo>
                    <a:pt x="12594082" y="2827909"/>
                  </a:lnTo>
                  <a:cubicBezTo>
                    <a:pt x="12594082" y="2859278"/>
                    <a:pt x="12568301" y="2884678"/>
                    <a:pt x="12536551" y="2884678"/>
                  </a:cubicBezTo>
                  <a:lnTo>
                    <a:pt x="57531" y="2884678"/>
                  </a:lnTo>
                  <a:cubicBezTo>
                    <a:pt x="25781" y="2884678"/>
                    <a:pt x="0" y="2859278"/>
                    <a:pt x="0" y="2827909"/>
                  </a:cubicBezTo>
                  <a:close/>
                </a:path>
              </a:pathLst>
            </a:custGeom>
            <a:solidFill>
              <a:srgbClr val="1B1C1D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644882" cy="2935478"/>
            </a:xfrm>
            <a:custGeom>
              <a:avLst/>
              <a:gdLst/>
              <a:ahLst/>
              <a:cxnLst/>
              <a:rect r="r" b="b" t="t" l="l"/>
              <a:pathLst>
                <a:path h="2935478" w="12644882">
                  <a:moveTo>
                    <a:pt x="0" y="82169"/>
                  </a:moveTo>
                  <a:cubicBezTo>
                    <a:pt x="0" y="36449"/>
                    <a:pt x="37465" y="0"/>
                    <a:pt x="82931" y="0"/>
                  </a:cubicBezTo>
                  <a:lnTo>
                    <a:pt x="12561951" y="0"/>
                  </a:lnTo>
                  <a:lnTo>
                    <a:pt x="12561951" y="25400"/>
                  </a:lnTo>
                  <a:lnTo>
                    <a:pt x="12561951" y="0"/>
                  </a:lnTo>
                  <a:cubicBezTo>
                    <a:pt x="12607417" y="0"/>
                    <a:pt x="12644882" y="36449"/>
                    <a:pt x="12644882" y="82169"/>
                  </a:cubicBezTo>
                  <a:lnTo>
                    <a:pt x="12619482" y="82169"/>
                  </a:lnTo>
                  <a:lnTo>
                    <a:pt x="12644882" y="82169"/>
                  </a:lnTo>
                  <a:lnTo>
                    <a:pt x="12644882" y="2853309"/>
                  </a:lnTo>
                  <a:lnTo>
                    <a:pt x="12619482" y="2853309"/>
                  </a:lnTo>
                  <a:lnTo>
                    <a:pt x="12644882" y="2853309"/>
                  </a:lnTo>
                  <a:cubicBezTo>
                    <a:pt x="12644882" y="2899029"/>
                    <a:pt x="12607417" y="2935478"/>
                    <a:pt x="12561951" y="2935478"/>
                  </a:cubicBezTo>
                  <a:lnTo>
                    <a:pt x="12561951" y="2910078"/>
                  </a:lnTo>
                  <a:lnTo>
                    <a:pt x="12561951" y="2935478"/>
                  </a:lnTo>
                  <a:lnTo>
                    <a:pt x="82931" y="2935478"/>
                  </a:lnTo>
                  <a:lnTo>
                    <a:pt x="82931" y="2910078"/>
                  </a:lnTo>
                  <a:lnTo>
                    <a:pt x="82931" y="2935478"/>
                  </a:lnTo>
                  <a:cubicBezTo>
                    <a:pt x="37465" y="2935478"/>
                    <a:pt x="0" y="2899029"/>
                    <a:pt x="0" y="2853309"/>
                  </a:cubicBezTo>
                  <a:lnTo>
                    <a:pt x="0" y="82169"/>
                  </a:lnTo>
                  <a:lnTo>
                    <a:pt x="25400" y="82169"/>
                  </a:lnTo>
                  <a:lnTo>
                    <a:pt x="0" y="82169"/>
                  </a:lnTo>
                  <a:moveTo>
                    <a:pt x="50800" y="82169"/>
                  </a:moveTo>
                  <a:lnTo>
                    <a:pt x="50800" y="2853309"/>
                  </a:lnTo>
                  <a:lnTo>
                    <a:pt x="25400" y="2853309"/>
                  </a:lnTo>
                  <a:lnTo>
                    <a:pt x="50800" y="2853309"/>
                  </a:lnTo>
                  <a:cubicBezTo>
                    <a:pt x="50800" y="2870327"/>
                    <a:pt x="64897" y="2884678"/>
                    <a:pt x="82931" y="2884678"/>
                  </a:cubicBezTo>
                  <a:lnTo>
                    <a:pt x="12561951" y="2884678"/>
                  </a:lnTo>
                  <a:cubicBezTo>
                    <a:pt x="12579985" y="2884678"/>
                    <a:pt x="12594082" y="2870327"/>
                    <a:pt x="12594082" y="2853309"/>
                  </a:cubicBezTo>
                  <a:lnTo>
                    <a:pt x="12594082" y="82169"/>
                  </a:lnTo>
                  <a:cubicBezTo>
                    <a:pt x="12594082" y="65151"/>
                    <a:pt x="12579985" y="50800"/>
                    <a:pt x="12561951" y="50800"/>
                  </a:cubicBezTo>
                  <a:lnTo>
                    <a:pt x="82931" y="50800"/>
                  </a:lnTo>
                  <a:lnTo>
                    <a:pt x="82931" y="25400"/>
                  </a:lnTo>
                  <a:lnTo>
                    <a:pt x="82931" y="50800"/>
                  </a:lnTo>
                  <a:cubicBezTo>
                    <a:pt x="64897" y="50800"/>
                    <a:pt x="50800" y="65151"/>
                    <a:pt x="50800" y="82169"/>
                  </a:cubicBezTo>
                  <a:close/>
                </a:path>
              </a:pathLst>
            </a:custGeom>
            <a:solidFill>
              <a:srgbClr val="53545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73188" y="5280422"/>
            <a:ext cx="9483623" cy="3307109"/>
            <a:chOff x="0" y="0"/>
            <a:chExt cx="12644831" cy="440947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5400" y="25400"/>
              <a:ext cx="12594082" cy="4358767"/>
            </a:xfrm>
            <a:custGeom>
              <a:avLst/>
              <a:gdLst/>
              <a:ahLst/>
              <a:cxnLst/>
              <a:rect r="r" b="b" t="t" l="l"/>
              <a:pathLst>
                <a:path h="4358767" w="12594082">
                  <a:moveTo>
                    <a:pt x="0" y="56769"/>
                  </a:moveTo>
                  <a:cubicBezTo>
                    <a:pt x="0" y="25400"/>
                    <a:pt x="25527" y="0"/>
                    <a:pt x="57150" y="0"/>
                  </a:cubicBezTo>
                  <a:lnTo>
                    <a:pt x="12536932" y="0"/>
                  </a:lnTo>
                  <a:cubicBezTo>
                    <a:pt x="12568427" y="0"/>
                    <a:pt x="12594082" y="25400"/>
                    <a:pt x="12594082" y="56769"/>
                  </a:cubicBezTo>
                  <a:lnTo>
                    <a:pt x="12594082" y="4301998"/>
                  </a:lnTo>
                  <a:cubicBezTo>
                    <a:pt x="12594082" y="4333367"/>
                    <a:pt x="12568555" y="4358767"/>
                    <a:pt x="12536932" y="4358767"/>
                  </a:cubicBezTo>
                  <a:lnTo>
                    <a:pt x="57150" y="4358767"/>
                  </a:lnTo>
                  <a:cubicBezTo>
                    <a:pt x="25654" y="4358767"/>
                    <a:pt x="0" y="4333367"/>
                    <a:pt x="0" y="4301998"/>
                  </a:cubicBezTo>
                  <a:close/>
                </a:path>
              </a:pathLst>
            </a:custGeom>
            <a:solidFill>
              <a:srgbClr val="1B1C1D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644882" cy="4409567"/>
            </a:xfrm>
            <a:custGeom>
              <a:avLst/>
              <a:gdLst/>
              <a:ahLst/>
              <a:cxnLst/>
              <a:rect r="r" b="b" t="t" l="l"/>
              <a:pathLst>
                <a:path h="4409567" w="12644882">
                  <a:moveTo>
                    <a:pt x="0" y="82169"/>
                  </a:moveTo>
                  <a:cubicBezTo>
                    <a:pt x="0" y="36576"/>
                    <a:pt x="37084" y="0"/>
                    <a:pt x="82550" y="0"/>
                  </a:cubicBezTo>
                  <a:lnTo>
                    <a:pt x="12562332" y="0"/>
                  </a:lnTo>
                  <a:lnTo>
                    <a:pt x="12562332" y="25400"/>
                  </a:lnTo>
                  <a:lnTo>
                    <a:pt x="12562332" y="0"/>
                  </a:lnTo>
                  <a:cubicBezTo>
                    <a:pt x="12607671" y="0"/>
                    <a:pt x="12644882" y="36576"/>
                    <a:pt x="12644882" y="82169"/>
                  </a:cubicBezTo>
                  <a:lnTo>
                    <a:pt x="12619482" y="82169"/>
                  </a:lnTo>
                  <a:lnTo>
                    <a:pt x="12644882" y="82169"/>
                  </a:lnTo>
                  <a:lnTo>
                    <a:pt x="12644882" y="4327398"/>
                  </a:lnTo>
                  <a:lnTo>
                    <a:pt x="12619482" y="4327398"/>
                  </a:lnTo>
                  <a:lnTo>
                    <a:pt x="12644882" y="4327398"/>
                  </a:lnTo>
                  <a:cubicBezTo>
                    <a:pt x="12644882" y="4372864"/>
                    <a:pt x="12607798" y="4409567"/>
                    <a:pt x="12562332" y="4409567"/>
                  </a:cubicBezTo>
                  <a:lnTo>
                    <a:pt x="12562332" y="4384167"/>
                  </a:lnTo>
                  <a:lnTo>
                    <a:pt x="12562332" y="4409567"/>
                  </a:lnTo>
                  <a:lnTo>
                    <a:pt x="82550" y="4409567"/>
                  </a:lnTo>
                  <a:lnTo>
                    <a:pt x="82550" y="4384167"/>
                  </a:lnTo>
                  <a:lnTo>
                    <a:pt x="82550" y="4409567"/>
                  </a:lnTo>
                  <a:cubicBezTo>
                    <a:pt x="37211" y="4409567"/>
                    <a:pt x="0" y="4372991"/>
                    <a:pt x="0" y="4327398"/>
                  </a:cubicBezTo>
                  <a:lnTo>
                    <a:pt x="0" y="82169"/>
                  </a:lnTo>
                  <a:lnTo>
                    <a:pt x="25400" y="82169"/>
                  </a:lnTo>
                  <a:lnTo>
                    <a:pt x="0" y="82169"/>
                  </a:lnTo>
                  <a:moveTo>
                    <a:pt x="50800" y="82169"/>
                  </a:moveTo>
                  <a:lnTo>
                    <a:pt x="50800" y="4327398"/>
                  </a:lnTo>
                  <a:lnTo>
                    <a:pt x="25400" y="4327398"/>
                  </a:lnTo>
                  <a:lnTo>
                    <a:pt x="50800" y="4327398"/>
                  </a:lnTo>
                  <a:cubicBezTo>
                    <a:pt x="50800" y="4344543"/>
                    <a:pt x="64770" y="4358767"/>
                    <a:pt x="82550" y="4358767"/>
                  </a:cubicBezTo>
                  <a:lnTo>
                    <a:pt x="12562332" y="4358767"/>
                  </a:lnTo>
                  <a:cubicBezTo>
                    <a:pt x="12579985" y="4358767"/>
                    <a:pt x="12594082" y="4344543"/>
                    <a:pt x="12594082" y="4327398"/>
                  </a:cubicBezTo>
                  <a:lnTo>
                    <a:pt x="12594082" y="82169"/>
                  </a:lnTo>
                  <a:cubicBezTo>
                    <a:pt x="12594082" y="65024"/>
                    <a:pt x="12580112" y="50800"/>
                    <a:pt x="12562332" y="50800"/>
                  </a:cubicBezTo>
                  <a:lnTo>
                    <a:pt x="82550" y="50800"/>
                  </a:lnTo>
                  <a:lnTo>
                    <a:pt x="82550" y="25400"/>
                  </a:lnTo>
                  <a:lnTo>
                    <a:pt x="82550" y="50800"/>
                  </a:lnTo>
                  <a:cubicBezTo>
                    <a:pt x="64770" y="50800"/>
                    <a:pt x="50800" y="65024"/>
                    <a:pt x="50800" y="82169"/>
                  </a:cubicBezTo>
                  <a:close/>
                </a:path>
              </a:pathLst>
            </a:custGeom>
            <a:solidFill>
              <a:srgbClr val="535455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13850" y="3174054"/>
            <a:ext cx="3544043" cy="2874876"/>
            <a:chOff x="0" y="0"/>
            <a:chExt cx="4725391" cy="3833169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19050"/>
              <a:ext cx="4725391" cy="599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51"/>
                </a:lnSpc>
              </a:pPr>
              <a:r>
                <a:rPr lang="en-US" sz="2899">
                  <a:solidFill>
                    <a:srgbClr val="FFFFFF"/>
                  </a:solidFill>
                  <a:latin typeface="Prata"/>
                  <a:ea typeface="Prata"/>
                  <a:cs typeface="Prata"/>
                  <a:sym typeface="Prata"/>
                </a:rPr>
                <a:t>Results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3233619"/>
              <a:ext cx="4725391" cy="599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51"/>
                </a:lnSpc>
              </a:pPr>
              <a:r>
                <a:rPr lang="en-US" sz="2899">
                  <a:solidFill>
                    <a:srgbClr val="FFFFFF"/>
                  </a:solidFill>
                  <a:latin typeface="Prata"/>
                  <a:ea typeface="Prata"/>
                  <a:cs typeface="Prata"/>
                  <a:sym typeface="Prata"/>
                </a:rPr>
                <a:t>Challenges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13850" y="3682308"/>
            <a:ext cx="8802291" cy="938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8"/>
              </a:lnSpc>
            </a:pP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Tracking succeeded in controlled scenes with clear contrast. Image enhancement measurably improved detection rates.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13850" y="6195608"/>
            <a:ext cx="8802291" cy="1890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20" indent="-289560" lvl="1">
              <a:lnSpc>
                <a:spcPts val="3818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Fast motion causes motion blur and tracking loss.</a:t>
            </a:r>
          </a:p>
          <a:p>
            <a:pPr algn="l" marL="579120" indent="-289560" lvl="1">
              <a:lnSpc>
                <a:spcPts val="3818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Camera movement (panning/zoom) confuses background subtraction.</a:t>
            </a:r>
          </a:p>
          <a:p>
            <a:pPr algn="l" marL="579120" indent="-289560" lvl="1">
              <a:lnSpc>
                <a:spcPts val="3818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Multiple players in close proximity cause identity swaps.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C1D">
                <a:alpha val="83922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1407611"/>
            <a:ext cx="10379126" cy="5881392"/>
            <a:chOff x="0" y="0"/>
            <a:chExt cx="13838834" cy="78418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838810" cy="7841869"/>
            </a:xfrm>
            <a:custGeom>
              <a:avLst/>
              <a:gdLst/>
              <a:ahLst/>
              <a:cxnLst/>
              <a:rect r="r" b="b" t="t" l="l"/>
              <a:pathLst>
                <a:path h="7841869" w="13838810">
                  <a:moveTo>
                    <a:pt x="0" y="0"/>
                  </a:moveTo>
                  <a:lnTo>
                    <a:pt x="13838810" y="0"/>
                  </a:lnTo>
                  <a:lnTo>
                    <a:pt x="13838810" y="7841869"/>
                  </a:lnTo>
                  <a:lnTo>
                    <a:pt x="0" y="7841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10" t="0" r="-371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046144" y="1379036"/>
            <a:ext cx="5274469" cy="1423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30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Conclusion &amp; Next Steps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51916" y="2969349"/>
            <a:ext cx="5649681" cy="5271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885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System ca</a:t>
            </a:r>
            <a:r>
              <a:rPr lang="en-US" sz="23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 track one football player successfully</a:t>
            </a:r>
          </a:p>
          <a:p>
            <a:pPr algn="l" marL="518158" indent="-259079" lvl="1">
              <a:lnSpc>
                <a:spcPts val="3885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Works well in simple conditions</a:t>
            </a:r>
          </a:p>
          <a:p>
            <a:pPr algn="l" marL="518158" indent="-259079" lvl="1">
              <a:lnSpc>
                <a:spcPts val="3885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Uses basic image processing techniques</a:t>
            </a:r>
          </a:p>
          <a:p>
            <a:pPr algn="l" marL="518158" indent="-259079" lvl="1">
              <a:lnSpc>
                <a:spcPts val="3885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Results are reliable for short videos</a:t>
            </a:r>
          </a:p>
          <a:p>
            <a:pPr algn="l" marL="518158" indent="-259079" lvl="1">
              <a:lnSpc>
                <a:spcPts val="3885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Performance can be improved further</a:t>
            </a:r>
          </a:p>
          <a:p>
            <a:pPr algn="l" marL="518158" indent="-259079" lvl="1">
              <a:lnSpc>
                <a:spcPts val="3885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Enhancements can increase accuracy and robustness</a:t>
            </a:r>
          </a:p>
          <a:p>
            <a:pPr algn="l">
              <a:lnSpc>
                <a:spcPts val="339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456732" y="8538328"/>
            <a:ext cx="15374535" cy="509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9"/>
              </a:lnSpc>
            </a:pPr>
            <a:r>
              <a:rPr lang="en-US" sz="2599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Use AI based detectors (e.g., YOLO) for robust player detection and multi player re identification.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C1D">
                <a:alpha val="8392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79922" y="3885756"/>
            <a:ext cx="6056160" cy="1257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46"/>
              </a:lnSpc>
            </a:pPr>
            <a:r>
              <a:rPr lang="en-US" sz="7999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Thank You 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56705" y="5595028"/>
            <a:ext cx="8702595" cy="1307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3"/>
              </a:lnSpc>
            </a:pPr>
            <a:r>
              <a:rPr lang="en-US" sz="3257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This project shows basic image processing can be used for sports analysis.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1028700"/>
            <a:ext cx="6956079" cy="8350452"/>
            <a:chOff x="0" y="0"/>
            <a:chExt cx="9274772" cy="11133936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274810" cy="11133961"/>
            </a:xfrm>
            <a:custGeom>
              <a:avLst/>
              <a:gdLst/>
              <a:ahLst/>
              <a:cxnLst/>
              <a:rect r="r" b="b" t="t" l="l"/>
              <a:pathLst>
                <a:path h="11133961" w="9274810">
                  <a:moveTo>
                    <a:pt x="0" y="0"/>
                  </a:moveTo>
                  <a:lnTo>
                    <a:pt x="9274810" y="0"/>
                  </a:lnTo>
                  <a:lnTo>
                    <a:pt x="9274810" y="11133961"/>
                  </a:lnTo>
                  <a:lnTo>
                    <a:pt x="0" y="111339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1000"/>
              </a:blip>
              <a:stretch>
                <a:fillRect l="-55837" t="0" r="-55837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DAHIz0Gd1kk</dc:identifier>
  <dcterms:modified xsi:type="dcterms:W3CDTF">2011-08-01T06:04:30Z</dcterms:modified>
  <cp:revision>1</cp:revision>
  <dc:title>Football-Player-Tracking-System.pptx</dc:title>
</cp:coreProperties>
</file>